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7A87"/>
                </a:solidFill>
              </a:rPr>
              <a:t>Gate 2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Agentic Transformation of
Apex Distribution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AABBCC"/>
                </a:solidFill>
              </a:rPr>
              <a:t>Customer Operations — 35 people · 730 cases/day · 4 work streams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9AA"/>
                </a:solidFill>
              </a:rPr>
              <a:t>Richa Sang  ·  2026-05-06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7A87"/>
                </a:solidFill>
              </a:rPr>
              <a:t>7 Deliverables  ·  Honest AI Assessment  ·  Phase 1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What Apex is dealing with — and why previous AI attempts failed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651760" cy="38404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6245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ETA Inquiries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09928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64792"/>
            <a:ext cx="243230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400/day · 4 min avg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55% of all cases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Simple data lookup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✅ High automation potential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25880"/>
            <a:ext cx="2651760" cy="38404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36245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Delivery Exceptions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709928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764792"/>
            <a:ext cx="243230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180/day · 12 min avg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Damage, refusals, missed windows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Incomplete SOP (Section 4.3 blank)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⚠️  Low automation ceiling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26517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36245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Dispatch Adjustments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709928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764792"/>
            <a:ext cx="243230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90/day · 18 min avg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Mid-route re-routing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Citrix barrier — no AI integration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🚫 Not accessible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325880"/>
            <a:ext cx="2651760" cy="38404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36245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Billing Disputes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709928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1764792"/>
            <a:ext cx="2432304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60/day · 28 min avg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Mostly Aurum system friction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T-1 batch only — no real-time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A5D75"/>
                </a:solidFill>
              </a:rPr>
              <a:t>▸ ⚠️  Partial automation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80"/>
            <a:ext cx="114300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Sarah Whitmore's prior AI attempts (both failed):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▸ 2023 chatbot — customers rejected it; tried to cover too many work streams at once
▸ 2024 automated billing tool — broke every time Aurum schema changed (no version control on quarterly exports)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 Deliverables — What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ATX Gate 2 methodology — each deliverable drives the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3560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325880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4173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Cognitive Load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417320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How all 4 work streams actually happen — JTBDs, 6 cognitive dimensions, zone maps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84248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9397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1984248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0756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Delegation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075688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Scored suitability for AI-led vs. human-led per work stream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42616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52344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642616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73405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Volume × Value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734056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Where AI investment delivers highest return for lowest risk — with financial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00984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410712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3300984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39242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Agent Purpose 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392424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Developer-ready spec for the ETA agent — inputs, outputs, escalation logic, KPIs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59352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6908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3959352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05079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System / Data Inventory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050792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What systems exist, what's accessible, what's blocked, what's risky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17720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72744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4617720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709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Discovery Questions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709160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9 questions whose answers would change what gets built — surfaces real unknowns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76088"/>
            <a:ext cx="731520" cy="6035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38581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5276088"/>
            <a:ext cx="10652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36752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CLAUDE.md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5367528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D75"/>
                </a:solidFill>
              </a:rPr>
              <a:t>Working project file for AI coding agent — enforces design decisions in build phase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D1 — Cognitive Load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All 4 work streams decomposed: JTBDs · 6 cognitive dimensions · Zone maps · Breakpoints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697480" cy="38404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ETA Inquiries
(400/day · 4 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2697480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719072"/>
            <a:ext cx="2478024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A: ~65% (fully agentic)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B: ~30% (agent-led)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Working memory: LOW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Pattern recognition: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Judgment: LOW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Time pressure: LOW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→ Primary automation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1280160"/>
            <a:ext cx="2697480" cy="38404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31673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Delivery Exceptions
(180/day · 12 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664208"/>
            <a:ext cx="2697480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719072"/>
            <a:ext cx="2478024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A: ~0%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B: ~15% (context only)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Working memory: VERY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Judgment: VERY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Emotional labour: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Incomplete SOP (Sec 4.3 blank)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→ Human-led; AI assists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4184" y="1280160"/>
            <a:ext cx="26974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131673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Dispatch Adjustments
(90/day · 18 min)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4184" y="1664208"/>
            <a:ext cx="2697480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719072"/>
            <a:ext cx="2478024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A: ~0% (Citrix barrier)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B: 10–15% (context surfacing)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Working memory: VERY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Time pressure: VERY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Pattern recognition: HIGH (uncoded)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Multi-vehicle cascade risk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→ Human-only until re-platform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6256" y="1280160"/>
            <a:ext cx="2697480" cy="38404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31673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Billing Disputes
(60/day · 28 min)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6256" y="1664208"/>
            <a:ext cx="2697480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1719072"/>
            <a:ext cx="2478024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A: 0% (Aurum ceiling)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Zone B: 30–35% (triage + drafting)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28 min = 5–8 min decisions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+ 20+ min Aurum friction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Audit bypass risk (Sandra)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→ Human-led; AI assists in triage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D2 — Delegation Suitability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6-dimension scored assessment · Automation readiness score · Archetype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5603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99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Work 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Data Quality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Judgment Req.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Error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SOP Maturity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System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25880"/>
            <a:ext cx="12801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9903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Volume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1325880"/>
            <a:ext cx="146304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61320" y="13990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828800"/>
            <a:ext cx="256032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1920240"/>
            <a:ext cx="2468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5D75"/>
                </a:solidFill>
              </a:rPr>
              <a:t>ETA Inquiries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REST API 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1828800"/>
            <a:ext cx="1280160" cy="502920"/>
          </a:xfrm>
          <a:prstGeom prst="rect">
            <a:avLst/>
          </a:prstGeom>
          <a:solidFill>
            <a:srgbClr val="E8F5E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192024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400/day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0" y="1828800"/>
            <a:ext cx="1463040" cy="502920"/>
          </a:xfrm>
          <a:prstGeom prst="rect">
            <a:avLst/>
          </a:prstGeom>
          <a:solidFill>
            <a:srgbClr val="2E8648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1320" y="1920240"/>
            <a:ext cx="1371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331720"/>
            <a:ext cx="256032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423160"/>
            <a:ext cx="2468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5D75"/>
                </a:solidFill>
              </a:rPr>
              <a:t>Delivery Exceptions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36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Medium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052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V.High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068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Incomplete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8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Accessible 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233172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2423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180/day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15600" y="2331720"/>
            <a:ext cx="1463040" cy="502920"/>
          </a:xfrm>
          <a:prstGeom prst="rect">
            <a:avLst/>
          </a:prstGeom>
          <a:solidFill>
            <a:srgbClr val="C0392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61320" y="2423160"/>
            <a:ext cx="1371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Human leads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834640"/>
            <a:ext cx="256032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2926080"/>
            <a:ext cx="2468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5D75"/>
                </a:solidFill>
              </a:rPr>
              <a:t>Dispatch Adjustments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036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Low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6052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V.High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6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4068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V.High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2084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Partial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8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0100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Citrix 🚫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2834640"/>
            <a:ext cx="1280160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81160" y="292608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90/day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515600" y="2834640"/>
            <a:ext cx="1463040" cy="502920"/>
          </a:xfrm>
          <a:prstGeom prst="rect">
            <a:avLst/>
          </a:prstGeom>
          <a:solidFill>
            <a:srgbClr val="C0392B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61320" y="2926080"/>
            <a:ext cx="1371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Human-only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337560"/>
            <a:ext cx="256032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3429000"/>
            <a:ext cx="2468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5D75"/>
                </a:solidFill>
              </a:rPr>
              <a:t>Billing Disputes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464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8036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Low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6052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Medium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9496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4068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High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7512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2084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Partial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5528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0100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Batch-only ⚠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35440" y="3337560"/>
            <a:ext cx="12801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81160" y="342900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D75"/>
                </a:solidFill>
              </a:rPr>
              <a:t>60/day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15600" y="3337560"/>
            <a:ext cx="1463040" cy="502920"/>
          </a:xfrm>
          <a:prstGeom prst="rect">
            <a:avLst/>
          </a:prstGeom>
          <a:solidFill>
            <a:srgbClr val="D47E00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561320" y="3429000"/>
            <a:ext cx="1371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Human leads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3749039"/>
            <a:ext cx="116128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3822191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B2A4A"/>
                </a:solidFill>
              </a:rPr>
              <a:t>Key insight: 2 of 4 work streams score below 3/5 for automation readiness. This is named openly — the biggest failure pattern in AI projects is assuming everything can be automated.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20" y="470916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6 dimensions scored 1–5: Data Quality, Judgment Requirement (inverse), Error Risk (inverse), SOP Maturity, System Accessibility, Volume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3 dimensions are inverse-scored — higher automation need = lower score on those axes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D3 — Volume × Value Analysis +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Where to start and what it's actually worth — honest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0292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Volume × Value Quadrant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D75"/>
                </a:solidFill>
              </a:rPr>
              <a:t>HIGH VALUE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D75"/>
                </a:solidFill>
              </a:rPr>
              <a:t>LOW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D75"/>
                </a:solidFill>
              </a:rPr>
              <a:t>LOW VOLUME ←————————→ HIGH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920240"/>
            <a:ext cx="2103120" cy="6858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19568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★ PRIMARY: ETA Inquiries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2267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Vol: HIGH / Value: 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474720"/>
            <a:ext cx="2103120" cy="6858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8064" y="35112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2: Billing Disputes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38221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Vol: LOW / Value: 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91840"/>
            <a:ext cx="2103120" cy="68580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3284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3: Delivery Exceptions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639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Vol: MED / Value: MED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29200"/>
            <a:ext cx="210312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50657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4: Dispatch Adjustments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376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Vol: LOW / Value: 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280160"/>
            <a:ext cx="630936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Phase 1 ROI — ETA Inquiries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Recoverable minutes/day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~1,120 min  (70% of 1,600)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3042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Person-hours/day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3042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~18.7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7797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FTE-equivalent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77977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~2.5 FTE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25526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Birmingham agent fully-loaded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2552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~£33,000/yr
(salary + NI + pension + overhead)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7307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Released capacity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3075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~£82,500/yr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4251960"/>
            <a:ext cx="5943600" cy="2743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43708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vs CEO benchmark of £1.2M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718304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D75"/>
                </a:solidFill>
              </a:rPr>
              <a:t>The £1.2M competitor saving reflects broader scope + headcount reduction + more modern systems. Phase 1 (ETA only) = £82,500. Phases 1–3 combined = ~£200,000–300,000/yr. The gap must be named with the CEO — not hidden. See D6 Q9.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D4 — Agent Purpose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Developer-ready spec for the ETA Agent — one job, done well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" y="1463040"/>
            <a:ext cx="1783080" cy="82296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Inbound message
(SMS / email / web portal)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5396" y="1737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6564" y="1463040"/>
            <a:ext cx="178308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1428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Order resolver
(Salesforce CRM REST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9644" y="1737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0812" y="1463040"/>
            <a:ext cx="1783080" cy="82296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5676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GPS interpreter
(Driver App — ⚠ API not yet confirmed)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3892" y="1737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60" y="1463040"/>
            <a:ext cx="178308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9924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Autonomy evaluator
(rules engine: GPS age + flags)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8140" y="1737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9308" y="1463040"/>
            <a:ext cx="1783080" cy="8229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4172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Response composer
or Escalation 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2388" y="1737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63556" y="1463040"/>
            <a:ext cx="178308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18420" y="1554480"/>
            <a:ext cx="1673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CRM case logger
(every interaction — mandatory)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5146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</a:rPr>
              <a:t>Critical constraints (hard-coded, non-negotiable):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926080"/>
            <a:ext cx="1874519" cy="38404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GPS &lt; 30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Autonomous — reply with best-estimate window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04287" y="2926080"/>
            <a:ext cx="1874519" cy="38404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95727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GPS 30–60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04287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4015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Supervised — widened window + disclosure; flagged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8534" y="2926080"/>
            <a:ext cx="1874519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9974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GPS &gt; 60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88534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8262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Escalate — NO ETA given. Dispatcher notified.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1" y="2926080"/>
            <a:ext cx="1874519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1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Driver App offline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2781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09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Escalate — never respond. Immediate escalation.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57028" y="2926080"/>
            <a:ext cx="1874519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48468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Exception flag 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57028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56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Escalate — no ETA regardless of GPS freshness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1275" y="2926080"/>
            <a:ext cx="1874519" cy="384048"/>
          </a:xfrm>
          <a:prstGeom prst="rect">
            <a:avLst/>
          </a:prstGeom>
          <a:solidFill>
            <a:srgbClr val="4A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15" y="2962656"/>
            <a:ext cx="1691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Billing question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1275" y="3310128"/>
            <a:ext cx="1874519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51003" y="3364992"/>
            <a:ext cx="1655063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Route to billing — agent does NOT handle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492240"/>
            <a:ext cx="1156716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1052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Scope: ETA inquiries ONLY. Not a chatbot. Cannot handle exceptions, billing, complaints, route changes, or requests to speak to a person.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D5 — System / Data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What's accessible · What's blocked · What's risky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651760" cy="38404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Salesforce CRM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2651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719072"/>
            <a:ext cx="243230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REST API confirmed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Primary order lookup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Case logging target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Rate limits — confirm before batch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280160"/>
            <a:ext cx="2651760" cy="38404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3167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 Driver GPS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664208"/>
            <a:ext cx="2651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719072"/>
            <a:ext cx="243230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In-house iOS/Android app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GPS API NOT CONFIRMED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Gate-blocking question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Build blocked until confirmed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280160"/>
            <a:ext cx="26517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167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🚫 Dispatch Console
(Citrix)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664208"/>
            <a:ext cx="2651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1719072"/>
            <a:ext cx="243230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No clean API surface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Citrix = RPA-class only (brittle)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Major infra project to integrate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Phase 4 — not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1280160"/>
            <a:ext cx="26517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3167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 Aurum Billing
(2008 Oracle)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1664208"/>
            <a:ext cx="2651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1719072"/>
            <a:ext cx="2432304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Batch CSV export only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T-1 minimum data lag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48h to modify invoices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Quarterly schema changes — no notice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94960"/>
            <a:ext cx="11567160" cy="1280160"/>
          </a:xfrm>
          <a:prstGeom prst="rect">
            <a:avLst/>
          </a:prstGeom>
          <a:solidFill>
            <a:srgbClr val="FFEBEE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681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Billing Audit Risk — must fix BEFORE any AI touches 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3387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Artefact 2 (Billing case study): Sandra applied a £170 goodwill credit via a manual workaround — no APPROVER_ID, no AUDIT_REF, no audit trail entry. The formal approval process exists on paper but is being bypassed. Building AI on top of this broken audit trail compounds the control gap. Fix governance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D6 — Discovery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9 questions that would change what gets built — surfaces genuine unknowns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828800" cy="9052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7373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Q1 — GATE-BLOCKING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325880"/>
            <a:ext cx="969264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399032"/>
            <a:ext cx="9418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Does the Driver App backend expose a REST API for GPS telemetry?
If NO: precision ETA feature cannot be built.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86000"/>
            <a:ext cx="1828800" cy="905256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17373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Q2 — Design-changing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286000"/>
            <a:ext cx="969264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359152"/>
            <a:ext cx="9418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What specifically made the 2024 chatbot fail — the channel (customers didn't want a bot) or the answers (wrong information)? Changes how the new system is designed and presented.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46120"/>
            <a:ext cx="1828800" cy="905256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37560"/>
            <a:ext cx="17373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Q3 — Governance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3246120"/>
            <a:ext cx="969264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3319272"/>
            <a:ext cx="9418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How often do team members bypass the formal credit approval process? Is Sandra's £170 credit an isolated incident or a team-wide pattern? Determines whether Phase 2 is a software or governance project first.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06240"/>
            <a:ext cx="1828800" cy="905256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80"/>
            <a:ext cx="17373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Q4 — Calibration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4206240"/>
            <a:ext cx="969264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4279392"/>
            <a:ext cx="9418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How stale is GPS data in practice? The Artefact showed a 26-minute gap. If typical, the agent will escalate more cases than planned — changing KPI projections.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166360"/>
            <a:ext cx="1828800" cy="90525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257800"/>
            <a:ext cx="17373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Q5 —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5166360"/>
            <a:ext cx="969264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5239512"/>
            <a:ext cx="9418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D75"/>
                </a:solidFill>
              </a:rPr>
              <a:t>What is the channel split for the 400 ETA inquiries/day — SMS vs email vs web portal? Determines how many inbound channels the comms gateway must support.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263640"/>
            <a:ext cx="1156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5D75"/>
                </a:solidFill>
              </a:rPr>
              <a:t>Remaining questions (Q6–Q9): Salesforce schema field names · Salesforce API rate limits · Dispatcher SLA for escalated cases · How to surface the £1.2M expectations gap with CEO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D7 — CLAUDE.md: Project File for 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Enforces design decisions — prevents scope creep in the build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57784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624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it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09928"/>
            <a:ext cx="55778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764792"/>
            <a:ext cx="535838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Working guide an AI coding agent picks up at build time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Translates Deliverables 1–6 into concrete build instructions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Enforces constraints that must not erode during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89504"/>
            <a:ext cx="557784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Build order (recommended)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73552"/>
            <a:ext cx="557784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28416"/>
            <a:ext cx="535838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1. CRM logger — build and test first (everything feeds it)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2. Order resolver — CRM lookup + fallback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3. Autonomy evaluator — rules engine, unit-test before integration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4. Response composer — channel-appropriate templates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5. Escalation router — test every trigger before ship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6. GPS interpreter — BLOCKED until Driver App API confirmed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57784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624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Hard rules enforced in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09928"/>
            <a:ext cx="557784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764792"/>
            <a:ext cx="535838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GPS &gt; 60 min → NEVER give ETA, escalate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Exception flag set → escalate regardless of GPS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Delivery 'complete' with no scan event → escalate (missing parcel)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Any billing question → route to billing team, do not process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CRM log required for every interaction including escalations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Never extrapolate GPS position from a stale 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557784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9684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it prevents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315968"/>
            <a:ext cx="55778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370832"/>
            <a:ext cx="535838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Scope creep: agent stays ETA-only, full stop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Silent failures: schema-change detection required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Audit gaps: billing-adjacent data must disclose T-1 lag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A5D75"/>
                </a:solidFill>
              </a:rPr>
              <a:t>▸ Test shortcuts: unit tests listed for 11 scenarios before 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Happens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87"/>
                </a:solidFill>
              </a:rPr>
              <a:t>Sequenced programme — prerequisites respected, no wishful shortcuts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488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075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27632"/>
            <a:ext cx="21488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642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NOW — Pre-build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84831"/>
            <a:ext cx="2148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1965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Confirm Driver App GPS API (gate-blocker)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Fix billing credit audit trail (governance before AI)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Update Exception SOP — Section 4.3 is blank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Schedule Salesforce schema review with Apex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1280160"/>
            <a:ext cx="214884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13075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Buildable 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1176" y="1627632"/>
            <a:ext cx="21488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6642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1
ETA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51176" y="2084831"/>
            <a:ext cx="2148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42616" y="2148840"/>
            <a:ext cx="1965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Build CRM logger first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Order resolver + autonomy evaluator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Response composer + escalation router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GPS interpreter (when API confirmed)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Target: 70% of 400/day autonomous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8032" y="1280160"/>
            <a:ext cx="2148840" cy="347472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13075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After Phase 1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8032" y="1627632"/>
            <a:ext cx="21488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16642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2
Billing Triage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28032" y="2084831"/>
            <a:ext cx="2148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2148840"/>
            <a:ext cx="1965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audit trail fixed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Aurum batch pipeline built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Agent: triage + data retrieval + response draft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Human approves all credits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Hayes &amp; Sons pattern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04888" y="1280160"/>
            <a:ext cx="2148840" cy="347472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13075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After Phase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04888" y="1627632"/>
            <a:ext cx="21488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16642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3
Exception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04888" y="2084831"/>
            <a:ext cx="2148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96328" y="2148840"/>
            <a:ext cx="1965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SOP updated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insurance protocol documented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Agent: context assembly for dispatcher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Human leads all decisions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No autonomous exception resolution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81744" y="1280160"/>
            <a:ext cx="21488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27464" y="13075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Multi-year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81744" y="1627632"/>
            <a:ext cx="21488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27464" y="1664208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 4
Dispatch Auto.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81744" y="2084831"/>
            <a:ext cx="2148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73184" y="2148840"/>
            <a:ext cx="1965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Dispatch Console re-platform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Prerequisite: API surface built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Separate multi-year infrastructure project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Not an AI project — a systems project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A5D75"/>
                </a:solidFill>
              </a:rPr>
              <a:t>▸ Highest cascade risk of any stream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1052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Phase 1: ~£82,500/yr released capacity  ·  Phases 1–3: ~£200,000–300,000/yr  ·  Full £1.2M requires modern system baseline + broader scope — name this gap with CEO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7A87"/>
                </a:solidFill>
              </a:rPr>
              <a:t>The Honest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What this assessment actually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Two of four work streams are not ready for AI automation — and this report says so plainly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78608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Phase 1 delivers ~£82,500/yr — not £1.2M — and the gap is explained, not hidden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54096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The gate-blocking question (Driver App API) is named before a single line of code is written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29584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The billing audit bypass must be fixed before AI is introduced — not 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0507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▸  Narrow, testable, demonstrable — that is what a working AI programme looks like at this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99AA"/>
                </a:solidFill>
              </a:rPr>
              <a:t>Richa Sang  ·  Gate 2  ·  Apex Distribution Ltd  ·  2026-05-06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